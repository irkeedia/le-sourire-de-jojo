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0.jpg" ContentType="image/png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4" r:id="rId12"/>
    <p:sldId id="265" r:id="rId13"/>
    <p:sldId id="266" r:id="rId14"/>
    <p:sldId id="270" r:id="rId15"/>
    <p:sldId id="271" r:id="rId16"/>
    <p:sldId id="273" r:id="rId17"/>
    <p:sldId id="268" r:id="rId18"/>
    <p:sldId id="269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ne meunier" userId="674ea66a3255e536" providerId="LiveId" clId="{B1C5E253-D37D-499C-9603-5FE373B86793}"/>
    <pc:docChg chg="custSel addSld delSld modSld modMainMaster">
      <pc:chgData name="marianne meunier" userId="674ea66a3255e536" providerId="LiveId" clId="{B1C5E253-D37D-499C-9603-5FE373B86793}" dt="2026-05-29T14:58:02.112" v="672" actId="2696"/>
      <pc:docMkLst>
        <pc:docMk/>
      </pc:docMkLst>
      <pc:sldChg chg="setBg">
        <pc:chgData name="marianne meunier" userId="674ea66a3255e536" providerId="LiveId" clId="{B1C5E253-D37D-499C-9603-5FE373B86793}" dt="2026-05-18T16:50:03.396" v="222"/>
        <pc:sldMkLst>
          <pc:docMk/>
          <pc:sldMk cId="2807653686" sldId="256"/>
        </pc:sldMkLst>
      </pc:sldChg>
      <pc:sldChg chg="modSp mod">
        <pc:chgData name="marianne meunier" userId="674ea66a3255e536" providerId="LiveId" clId="{B1C5E253-D37D-499C-9603-5FE373B86793}" dt="2026-05-18T16:06:15.617" v="0" actId="20577"/>
        <pc:sldMkLst>
          <pc:docMk/>
          <pc:sldMk cId="2254749460" sldId="258"/>
        </pc:sldMkLst>
        <pc:spChg chg="mod">
          <ac:chgData name="marianne meunier" userId="674ea66a3255e536" providerId="LiveId" clId="{B1C5E253-D37D-499C-9603-5FE373B86793}" dt="2026-05-18T16:06:15.617" v="0" actId="20577"/>
          <ac:spMkLst>
            <pc:docMk/>
            <pc:sldMk cId="2254749460" sldId="258"/>
            <ac:spMk id="3" creationId="{EF11886E-2135-39A9-3F4E-9D4E21EFE166}"/>
          </ac:spMkLst>
        </pc:spChg>
      </pc:sldChg>
      <pc:sldChg chg="addSp delSp modSp mod">
        <pc:chgData name="marianne meunier" userId="674ea66a3255e536" providerId="LiveId" clId="{B1C5E253-D37D-499C-9603-5FE373B86793}" dt="2026-05-26T15:02:19.604" v="321" actId="1076"/>
        <pc:sldMkLst>
          <pc:docMk/>
          <pc:sldMk cId="1685780203" sldId="263"/>
        </pc:sldMkLst>
        <pc:spChg chg="add mod">
          <ac:chgData name="marianne meunier" userId="674ea66a3255e536" providerId="LiveId" clId="{B1C5E253-D37D-499C-9603-5FE373B86793}" dt="2026-05-26T14:57:37.401" v="271" actId="20577"/>
          <ac:spMkLst>
            <pc:docMk/>
            <pc:sldMk cId="1685780203" sldId="263"/>
            <ac:spMk id="7" creationId="{72E6155D-4C54-37B9-4245-D1143F4FE6CF}"/>
          </ac:spMkLst>
        </pc:spChg>
        <pc:spChg chg="add mod">
          <ac:chgData name="marianne meunier" userId="674ea66a3255e536" providerId="LiveId" clId="{B1C5E253-D37D-499C-9603-5FE373B86793}" dt="2026-05-26T14:59:49.562" v="314" actId="1076"/>
          <ac:spMkLst>
            <pc:docMk/>
            <pc:sldMk cId="1685780203" sldId="263"/>
            <ac:spMk id="11" creationId="{259FE6BF-1F79-3EDA-7345-C8CD01989E76}"/>
          </ac:spMkLst>
        </pc:spChg>
        <pc:spChg chg="mod">
          <ac:chgData name="marianne meunier" userId="674ea66a3255e536" providerId="LiveId" clId="{B1C5E253-D37D-499C-9603-5FE373B86793}" dt="2026-05-26T14:56:23.677" v="224" actId="1076"/>
          <ac:spMkLst>
            <pc:docMk/>
            <pc:sldMk cId="1685780203" sldId="263"/>
            <ac:spMk id="26" creationId="{E5785938-29C3-A7FC-94C8-90EC38A141CC}"/>
          </ac:spMkLst>
        </pc:spChg>
        <pc:spChg chg="mod">
          <ac:chgData name="marianne meunier" userId="674ea66a3255e536" providerId="LiveId" clId="{B1C5E253-D37D-499C-9603-5FE373B86793}" dt="2026-05-26T14:56:32.016" v="226" actId="1076"/>
          <ac:spMkLst>
            <pc:docMk/>
            <pc:sldMk cId="1685780203" sldId="263"/>
            <ac:spMk id="27" creationId="{85466F38-EA78-7162-DDBA-0C8FF6604676}"/>
          </ac:spMkLst>
        </pc:spChg>
        <pc:spChg chg="mod">
          <ac:chgData name="marianne meunier" userId="674ea66a3255e536" providerId="LiveId" clId="{B1C5E253-D37D-499C-9603-5FE373B86793}" dt="2026-05-26T14:56:49.145" v="230" actId="1076"/>
          <ac:spMkLst>
            <pc:docMk/>
            <pc:sldMk cId="1685780203" sldId="263"/>
            <ac:spMk id="28" creationId="{3FE1F685-5CB9-3873-6448-4AD2F2C981DB}"/>
          </ac:spMkLst>
        </pc:spChg>
        <pc:spChg chg="mod">
          <ac:chgData name="marianne meunier" userId="674ea66a3255e536" providerId="LiveId" clId="{B1C5E253-D37D-499C-9603-5FE373B86793}" dt="2026-05-26T14:56:39.462" v="228" actId="1076"/>
          <ac:spMkLst>
            <pc:docMk/>
            <pc:sldMk cId="1685780203" sldId="263"/>
            <ac:spMk id="29" creationId="{1C69343B-B6D8-5F13-51C0-5421FE657C42}"/>
          </ac:spMkLst>
        </pc:spChg>
        <pc:spChg chg="mod">
          <ac:chgData name="marianne meunier" userId="674ea66a3255e536" providerId="LiveId" clId="{B1C5E253-D37D-499C-9603-5FE373B86793}" dt="2026-05-26T14:59:16.404" v="287" actId="1076"/>
          <ac:spMkLst>
            <pc:docMk/>
            <pc:sldMk cId="1685780203" sldId="263"/>
            <ac:spMk id="31" creationId="{E702EA6A-9B0B-5123-E7CA-124C7CF14128}"/>
          </ac:spMkLst>
        </pc:spChg>
        <pc:spChg chg="mod">
          <ac:chgData name="marianne meunier" userId="674ea66a3255e536" providerId="LiveId" clId="{B1C5E253-D37D-499C-9603-5FE373B86793}" dt="2026-05-26T14:59:45.895" v="313" actId="1076"/>
          <ac:spMkLst>
            <pc:docMk/>
            <pc:sldMk cId="1685780203" sldId="263"/>
            <ac:spMk id="32" creationId="{5CCE84ED-2CD1-21B8-98AC-65EBF2BBEC11}"/>
          </ac:spMkLst>
        </pc:spChg>
        <pc:spChg chg="mod">
          <ac:chgData name="marianne meunier" userId="674ea66a3255e536" providerId="LiveId" clId="{B1C5E253-D37D-499C-9603-5FE373B86793}" dt="2026-05-26T14:58:03.270" v="273" actId="1076"/>
          <ac:spMkLst>
            <pc:docMk/>
            <pc:sldMk cId="1685780203" sldId="263"/>
            <ac:spMk id="33" creationId="{9B2CD87F-AA4D-3DD4-E158-18C217F25A57}"/>
          </ac:spMkLst>
        </pc:spChg>
        <pc:picChg chg="mod">
          <ac:chgData name="marianne meunier" userId="674ea66a3255e536" providerId="LiveId" clId="{B1C5E253-D37D-499C-9603-5FE373B86793}" dt="2026-05-26T14:58:10.071" v="274" actId="1076"/>
          <ac:picMkLst>
            <pc:docMk/>
            <pc:sldMk cId="1685780203" sldId="263"/>
            <ac:picMk id="4" creationId="{65B3F400-50DA-233A-488C-27F5E07B1E53}"/>
          </ac:picMkLst>
        </pc:picChg>
        <pc:picChg chg="mod">
          <ac:chgData name="marianne meunier" userId="674ea66a3255e536" providerId="LiveId" clId="{B1C5E253-D37D-499C-9603-5FE373B86793}" dt="2026-05-26T14:56:19.403" v="223" actId="1076"/>
          <ac:picMkLst>
            <pc:docMk/>
            <pc:sldMk cId="1685780203" sldId="263"/>
            <ac:picMk id="5" creationId="{438EA953-68FA-71E2-BBB6-10E7CD9195AC}"/>
          </ac:picMkLst>
        </pc:picChg>
        <pc:picChg chg="add mod">
          <ac:chgData name="marianne meunier" userId="674ea66a3255e536" providerId="LiveId" clId="{B1C5E253-D37D-499C-9603-5FE373B86793}" dt="2026-05-26T14:57:06.661" v="238" actId="1076"/>
          <ac:picMkLst>
            <pc:docMk/>
            <pc:sldMk cId="1685780203" sldId="263"/>
            <ac:picMk id="6" creationId="{E8DE1473-8FD5-DF6C-3F1E-3157795C1A8E}"/>
          </ac:picMkLst>
        </pc:picChg>
        <pc:picChg chg="add mod">
          <ac:chgData name="marianne meunier" userId="674ea66a3255e536" providerId="LiveId" clId="{B1C5E253-D37D-499C-9603-5FE373B86793}" dt="2026-05-26T14:59:11.414" v="286" actId="1076"/>
          <ac:picMkLst>
            <pc:docMk/>
            <pc:sldMk cId="1685780203" sldId="263"/>
            <ac:picMk id="9" creationId="{7ECFD51B-9D1C-BE22-3043-D5331EFA02DA}"/>
          </ac:picMkLst>
        </pc:picChg>
        <pc:picChg chg="mod">
          <ac:chgData name="marianne meunier" userId="674ea66a3255e536" providerId="LiveId" clId="{B1C5E253-D37D-499C-9603-5FE373B86793}" dt="2026-05-26T14:56:26.731" v="225" actId="1076"/>
          <ac:picMkLst>
            <pc:docMk/>
            <pc:sldMk cId="1685780203" sldId="263"/>
            <ac:picMk id="10" creationId="{F615DDB2-0B61-FF4E-A73D-0799BFAE7F0E}"/>
          </ac:picMkLst>
        </pc:picChg>
        <pc:picChg chg="add mod">
          <ac:chgData name="marianne meunier" userId="674ea66a3255e536" providerId="LiveId" clId="{B1C5E253-D37D-499C-9603-5FE373B86793}" dt="2026-05-26T15:02:19.604" v="321" actId="1076"/>
          <ac:picMkLst>
            <pc:docMk/>
            <pc:sldMk cId="1685780203" sldId="263"/>
            <ac:picMk id="13" creationId="{963FAF6A-78D6-CF0C-AAEE-098A802C3D30}"/>
          </ac:picMkLst>
        </pc:picChg>
        <pc:picChg chg="mod">
          <ac:chgData name="marianne meunier" userId="674ea66a3255e536" providerId="LiveId" clId="{B1C5E253-D37D-499C-9603-5FE373B86793}" dt="2026-05-26T14:57:59.809" v="272" actId="1076"/>
          <ac:picMkLst>
            <pc:docMk/>
            <pc:sldMk cId="1685780203" sldId="263"/>
            <ac:picMk id="17" creationId="{F5ABEE0B-403A-BF6C-22DF-7B0AC118AB70}"/>
          </ac:picMkLst>
        </pc:picChg>
        <pc:picChg chg="mod">
          <ac:chgData name="marianne meunier" userId="674ea66a3255e536" providerId="LiveId" clId="{B1C5E253-D37D-499C-9603-5FE373B86793}" dt="2026-05-26T14:58:27.120" v="280" actId="14100"/>
          <ac:picMkLst>
            <pc:docMk/>
            <pc:sldMk cId="1685780203" sldId="263"/>
            <ac:picMk id="21" creationId="{2061EC78-3CF5-D74C-F7D0-C9C90F536856}"/>
          </ac:picMkLst>
        </pc:picChg>
        <pc:picChg chg="mod">
          <ac:chgData name="marianne meunier" userId="674ea66a3255e536" providerId="LiveId" clId="{B1C5E253-D37D-499C-9603-5FE373B86793}" dt="2026-05-26T14:58:19.989" v="278" actId="14100"/>
          <ac:picMkLst>
            <pc:docMk/>
            <pc:sldMk cId="1685780203" sldId="263"/>
            <ac:picMk id="23" creationId="{6FABE85F-5740-A23C-E19F-BBAA61D7C1C9}"/>
          </ac:picMkLst>
        </pc:picChg>
        <pc:picChg chg="mod">
          <ac:chgData name="marianne meunier" userId="674ea66a3255e536" providerId="LiveId" clId="{B1C5E253-D37D-499C-9603-5FE373B86793}" dt="2026-05-26T14:56:35.326" v="227" actId="1076"/>
          <ac:picMkLst>
            <pc:docMk/>
            <pc:sldMk cId="1685780203" sldId="263"/>
            <ac:picMk id="25" creationId="{F34B981E-B499-765B-92FB-A694E5BFB202}"/>
          </ac:picMkLst>
        </pc:picChg>
      </pc:sldChg>
      <pc:sldChg chg="modSp mod">
        <pc:chgData name="marianne meunier" userId="674ea66a3255e536" providerId="LiveId" clId="{B1C5E253-D37D-499C-9603-5FE373B86793}" dt="2026-05-18T16:08:52.541" v="38" actId="20577"/>
        <pc:sldMkLst>
          <pc:docMk/>
          <pc:sldMk cId="786146155" sldId="264"/>
        </pc:sldMkLst>
        <pc:spChg chg="mod">
          <ac:chgData name="marianne meunier" userId="674ea66a3255e536" providerId="LiveId" clId="{B1C5E253-D37D-499C-9603-5FE373B86793}" dt="2026-05-18T16:08:52.541" v="38" actId="20577"/>
          <ac:spMkLst>
            <pc:docMk/>
            <pc:sldMk cId="786146155" sldId="264"/>
            <ac:spMk id="14" creationId="{AC5C9028-A482-F529-DCE2-C5F8612A8DB1}"/>
          </ac:spMkLst>
        </pc:spChg>
      </pc:sldChg>
      <pc:sldChg chg="addSp modSp mod">
        <pc:chgData name="marianne meunier" userId="674ea66a3255e536" providerId="LiveId" clId="{B1C5E253-D37D-499C-9603-5FE373B86793}" dt="2026-05-26T15:10:03.472" v="353" actId="1076"/>
        <pc:sldMkLst>
          <pc:docMk/>
          <pc:sldMk cId="3949274614" sldId="265"/>
        </pc:sldMkLst>
        <pc:graphicFrameChg chg="add mod modGraphic">
          <ac:chgData name="marianne meunier" userId="674ea66a3255e536" providerId="LiveId" clId="{B1C5E253-D37D-499C-9603-5FE373B86793}" dt="2026-05-26T15:10:03.472" v="353" actId="1076"/>
          <ac:graphicFrameMkLst>
            <pc:docMk/>
            <pc:sldMk cId="3949274614" sldId="265"/>
            <ac:graphicFrameMk id="3" creationId="{A46C8CC1-9CF8-4784-EBE3-A95C2E61823F}"/>
          </ac:graphicFrameMkLst>
        </pc:graphicFrameChg>
      </pc:sldChg>
      <pc:sldChg chg="modSp del mod">
        <pc:chgData name="marianne meunier" userId="674ea66a3255e536" providerId="LiveId" clId="{B1C5E253-D37D-499C-9603-5FE373B86793}" dt="2026-05-29T14:58:02.112" v="672" actId="2696"/>
        <pc:sldMkLst>
          <pc:docMk/>
          <pc:sldMk cId="2672514408" sldId="267"/>
        </pc:sldMkLst>
        <pc:graphicFrameChg chg="mod modGraphic">
          <ac:chgData name="marianne meunier" userId="674ea66a3255e536" providerId="LiveId" clId="{B1C5E253-D37D-499C-9603-5FE373B86793}" dt="2026-05-29T14:52:04.149" v="415" actId="14100"/>
          <ac:graphicFrameMkLst>
            <pc:docMk/>
            <pc:sldMk cId="2672514408" sldId="267"/>
            <ac:graphicFrameMk id="3" creationId="{B8900035-8BD6-94DA-3FEF-0207140954B8}"/>
          </ac:graphicFrameMkLst>
        </pc:graphicFrameChg>
      </pc:sldChg>
      <pc:sldChg chg="addSp delSp modSp add mod">
        <pc:chgData name="marianne meunier" userId="674ea66a3255e536" providerId="LiveId" clId="{B1C5E253-D37D-499C-9603-5FE373B86793}" dt="2026-05-26T15:07:44.797" v="347" actId="20577"/>
        <pc:sldMkLst>
          <pc:docMk/>
          <pc:sldMk cId="3877626401" sldId="272"/>
        </pc:sldMkLst>
        <pc:spChg chg="mod">
          <ac:chgData name="marianne meunier" userId="674ea66a3255e536" providerId="LiveId" clId="{B1C5E253-D37D-499C-9603-5FE373B86793}" dt="2026-05-26T15:07:44.797" v="347" actId="20577"/>
          <ac:spMkLst>
            <pc:docMk/>
            <pc:sldMk cId="3877626401" sldId="272"/>
            <ac:spMk id="2" creationId="{579893F7-393E-2F49-B418-04379047A038}"/>
          </ac:spMkLst>
        </pc:spChg>
        <pc:picChg chg="add mod">
          <ac:chgData name="marianne meunier" userId="674ea66a3255e536" providerId="LiveId" clId="{B1C5E253-D37D-499C-9603-5FE373B86793}" dt="2026-05-26T15:07:28.745" v="330" actId="1076"/>
          <ac:picMkLst>
            <pc:docMk/>
            <pc:sldMk cId="3877626401" sldId="272"/>
            <ac:picMk id="5" creationId="{2AC945DD-4F32-99ED-4DC3-0BF8429464BA}"/>
          </ac:picMkLst>
        </pc:picChg>
      </pc:sldChg>
      <pc:sldChg chg="addSp delSp modSp add mod">
        <pc:chgData name="marianne meunier" userId="674ea66a3255e536" providerId="LiveId" clId="{B1C5E253-D37D-499C-9603-5FE373B86793}" dt="2026-05-29T14:49:54.102" v="409" actId="1076"/>
        <pc:sldMkLst>
          <pc:docMk/>
          <pc:sldMk cId="2282611553" sldId="273"/>
        </pc:sldMkLst>
        <pc:spChg chg="mod">
          <ac:chgData name="marianne meunier" userId="674ea66a3255e536" providerId="LiveId" clId="{B1C5E253-D37D-499C-9603-5FE373B86793}" dt="2026-05-29T14:47:40.092" v="373" actId="20577"/>
          <ac:spMkLst>
            <pc:docMk/>
            <pc:sldMk cId="2282611553" sldId="273"/>
            <ac:spMk id="2" creationId="{E693B35D-9374-5CAD-D1C8-7EFA0A581E45}"/>
          </ac:spMkLst>
        </pc:spChg>
        <pc:spChg chg="add">
          <ac:chgData name="marianne meunier" userId="674ea66a3255e536" providerId="LiveId" clId="{B1C5E253-D37D-499C-9603-5FE373B86793}" dt="2026-05-29T14:47:42.825" v="374"/>
          <ac:spMkLst>
            <pc:docMk/>
            <pc:sldMk cId="2282611553" sldId="273"/>
            <ac:spMk id="3" creationId="{CFC4B13E-A437-A4E4-698A-83EF3DCE5CC8}"/>
          </ac:spMkLst>
        </pc:spChg>
        <pc:spChg chg="add del mod">
          <ac:chgData name="marianne meunier" userId="674ea66a3255e536" providerId="LiveId" clId="{B1C5E253-D37D-499C-9603-5FE373B86793}" dt="2026-05-29T14:48:02.518" v="378" actId="478"/>
          <ac:spMkLst>
            <pc:docMk/>
            <pc:sldMk cId="2282611553" sldId="273"/>
            <ac:spMk id="4" creationId="{C95DF439-6F0C-2C2D-3452-35F932A7F03D}"/>
          </ac:spMkLst>
        </pc:spChg>
        <pc:spChg chg="add del mod">
          <ac:chgData name="marianne meunier" userId="674ea66a3255e536" providerId="LiveId" clId="{B1C5E253-D37D-499C-9603-5FE373B86793}" dt="2026-05-29T14:48:02.518" v="378" actId="478"/>
          <ac:spMkLst>
            <pc:docMk/>
            <pc:sldMk cId="2282611553" sldId="273"/>
            <ac:spMk id="5" creationId="{20DD5F97-8BF5-C812-79CA-8A2A91EE413E}"/>
          </ac:spMkLst>
        </pc:spChg>
        <pc:spChg chg="add mod">
          <ac:chgData name="marianne meunier" userId="674ea66a3255e536" providerId="LiveId" clId="{B1C5E253-D37D-499C-9603-5FE373B86793}" dt="2026-05-29T14:49:54.102" v="409" actId="1076"/>
          <ac:spMkLst>
            <pc:docMk/>
            <pc:sldMk cId="2282611553" sldId="273"/>
            <ac:spMk id="6" creationId="{5050A7A4-80DF-1326-0340-E4341FB0F26D}"/>
          </ac:spMkLst>
        </pc:spChg>
        <pc:spChg chg="del">
          <ac:chgData name="marianne meunier" userId="674ea66a3255e536" providerId="LiveId" clId="{B1C5E253-D37D-499C-9603-5FE373B86793}" dt="2026-05-29T14:48:06.509" v="379" actId="478"/>
          <ac:spMkLst>
            <pc:docMk/>
            <pc:sldMk cId="2282611553" sldId="273"/>
            <ac:spMk id="8" creationId="{A28C7A6A-5F41-C2B0-1CF7-AAAB85858702}"/>
          </ac:spMkLst>
        </pc:spChg>
      </pc:sldChg>
      <pc:sldChg chg="addSp delSp modSp add mod">
        <pc:chgData name="marianne meunier" userId="674ea66a3255e536" providerId="LiveId" clId="{B1C5E253-D37D-499C-9603-5FE373B86793}" dt="2026-05-29T14:57:50.774" v="671" actId="1076"/>
        <pc:sldMkLst>
          <pc:docMk/>
          <pc:sldMk cId="1422877513" sldId="274"/>
        </pc:sldMkLst>
        <pc:spChg chg="mod">
          <ac:chgData name="marianne meunier" userId="674ea66a3255e536" providerId="LiveId" clId="{B1C5E253-D37D-499C-9603-5FE373B86793}" dt="2026-05-29T14:54:05.882" v="471" actId="1076"/>
          <ac:spMkLst>
            <pc:docMk/>
            <pc:sldMk cId="1422877513" sldId="274"/>
            <ac:spMk id="2" creationId="{16795A11-90F9-D724-7CC3-3975D8DD216E}"/>
          </ac:spMkLst>
        </pc:spChg>
        <pc:spChg chg="mod">
          <ac:chgData name="marianne meunier" userId="674ea66a3255e536" providerId="LiveId" clId="{B1C5E253-D37D-499C-9603-5FE373B86793}" dt="2026-05-29T14:57:50.774" v="671" actId="1076"/>
          <ac:spMkLst>
            <pc:docMk/>
            <pc:sldMk cId="1422877513" sldId="274"/>
            <ac:spMk id="5" creationId="{8307A118-D397-F005-C7EF-CBB928919169}"/>
          </ac:spMkLst>
        </pc:spChg>
        <pc:graphicFrameChg chg="del">
          <ac:chgData name="marianne meunier" userId="674ea66a3255e536" providerId="LiveId" clId="{B1C5E253-D37D-499C-9603-5FE373B86793}" dt="2026-05-29T14:52:19.156" v="417" actId="478"/>
          <ac:graphicFrameMkLst>
            <pc:docMk/>
            <pc:sldMk cId="1422877513" sldId="274"/>
            <ac:graphicFrameMk id="3" creationId="{ABFE2C50-78FE-C7B0-2A41-A76E6400C73D}"/>
          </ac:graphicFrameMkLst>
        </pc:graphicFrameChg>
        <pc:graphicFrameChg chg="add mod modGraphic">
          <ac:chgData name="marianne meunier" userId="674ea66a3255e536" providerId="LiveId" clId="{B1C5E253-D37D-499C-9603-5FE373B86793}" dt="2026-05-29T14:57:38.036" v="669" actId="14100"/>
          <ac:graphicFrameMkLst>
            <pc:docMk/>
            <pc:sldMk cId="1422877513" sldId="274"/>
            <ac:graphicFrameMk id="4" creationId="{67A126B2-B22C-0B7C-EA7C-163A6A92866A}"/>
          </ac:graphicFrameMkLst>
        </pc:graphicFrameChg>
      </pc:sldChg>
      <pc:sldMasterChg chg="setBg modSldLayout">
        <pc:chgData name="marianne meunier" userId="674ea66a3255e536" providerId="LiveId" clId="{B1C5E253-D37D-499C-9603-5FE373B86793}" dt="2026-05-18T16:50:03.396" v="222"/>
        <pc:sldMasterMkLst>
          <pc:docMk/>
          <pc:sldMasterMk cId="1482065421" sldId="2147483713"/>
        </pc:sldMasterMkLst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1200949348" sldId="2147483714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17099118" sldId="2147483715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3673524396" sldId="2147483716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594440479" sldId="2147483717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2413567861" sldId="2147483718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3592551149" sldId="2147483719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2320527162" sldId="2147483720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3497413415" sldId="2147483721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198023133" sldId="2147483722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1189487775" sldId="2147483723"/>
          </pc:sldLayoutMkLst>
        </pc:sldLayoutChg>
        <pc:sldLayoutChg chg="setBg">
          <pc:chgData name="marianne meunier" userId="674ea66a3255e536" providerId="LiveId" clId="{B1C5E253-D37D-499C-9603-5FE373B86793}" dt="2026-05-18T16:50:03.396" v="222"/>
          <pc:sldLayoutMkLst>
            <pc:docMk/>
            <pc:sldMasterMk cId="1482065421" sldId="2147483713"/>
            <pc:sldLayoutMk cId="1706227748" sldId="214748372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424A6-92C1-4741-B73D-BCE16372D196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A84C5-1E0B-4CE9-AC78-7CF3FDCBAD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46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A84C5-1E0B-4CE9-AC78-7CF3FDCBAD8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473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A84C5-1E0B-4CE9-AC78-7CF3FDCBAD8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440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3EC52-7742-2919-2E73-9F8F29B57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C2D8B74-396B-2BBA-46E5-6BDE76193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AB4D25-7917-5E01-E107-3E687076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10A677-7F69-B473-36FF-B8FDEFA9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F79979-6BDE-9F4B-DA5F-DE7AF8A9C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94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F59D1E-ECC4-90F1-9806-718F4D3C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1E45E6-77AD-D779-442D-43CF6745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2D420-75D5-60AE-BF5D-FDCA896E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1AC723-250C-0722-340E-C07A5059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00A31A-ACC8-F6AB-3BA4-F9D20F60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9D53FA-9B2F-DAD1-8A28-64D0A0DA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F1D44C-F0A8-281E-D75D-498379AF7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2FB4E6-2BF6-6B4B-8A1E-621ADCBD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014FD2-F521-5A0A-9828-A1233779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5A445-93CB-96C3-A518-FD6F0F43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52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02C05-4626-4186-1F22-31307F2C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3923F6-6D6E-6835-104F-B7570358F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D60DF-DAD3-7C53-812B-E23FEB91F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42BAA9-78B7-98C5-A9E6-16F6D7EB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875EC1-1A3E-18A9-26B1-6FFD101C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94D58A-8E86-85B9-71B8-E18D69FC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44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5D37-5C40-7F1E-C511-461DBF90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8DC9EF-5FCA-51C8-6CE1-2EA90CA86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A78265-A7DA-FB45-C01F-E44C44A63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55B450-BC33-E884-84AF-5801DE9B9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FB13C70-1508-6EBE-9B7B-DDF194C03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5E43FE-AD4C-AFC2-503D-F361E651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35F7DA-B599-D914-7C50-CA9066DB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0CA780-6159-E8D3-4A18-021429C8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56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45F8A6-E83F-DE4F-1361-2A29F106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17FBDB-063B-E915-B9DF-AFC291B6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B36E96-34D0-CE02-F672-90DFA955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B6464A-449A-3899-ABFD-BF6CC903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255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E9B9C84-FF6D-6DEA-84E5-83873CB8D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618E59-0020-5E6C-952B-8AD47010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4828EF-7A29-7A2B-F751-1B432B02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52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DDCE8-FDC8-CE4E-D123-A32E916B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40916-40D2-AA8D-CB05-0282AAD7B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D539AC-B2EB-36BF-0EDB-26263BF41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D9FDA2-577F-4EB3-8421-5167D803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ECC29F-7296-EA6B-734D-2781807F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5D23C4-1F23-2B75-52B6-1FFED10D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41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EAF27B-0514-433B-E15C-0578294C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1CD8D5-35CD-83EF-B317-9E46B609E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7322CA-89E8-1C1C-B9BA-4525DE3C8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C8A022-670D-85EE-B89A-420252EF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EAFE5B-A767-9A95-F567-EF9D3CD1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F54CF-2780-D26C-D966-4BF2B3F5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2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E2771C-F084-D8A4-A836-2370263D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8880B6-E379-E910-20F0-46AC6FEC4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854EFF-381A-0C5A-6C5F-C0B5BE2A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0E64B5-6ADA-666A-5112-75D5AFCB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6E6AE4-0B8F-C72A-5E6C-B40BA373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487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8A120CA-9B6F-FBFF-321E-9A24F3D00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BA4FFBB-0E0E-FD51-9053-A516A7BA4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8FDC72-921F-960F-FC99-117676D9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D0A196-1DB1-1BBF-E32B-9B4F596A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305D96-C92D-8E20-2DD0-F6327C23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622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9000" b="-6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4C88CE-2697-EDF1-9254-952645A3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393137-206C-BC64-164F-4F0D0DC9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407C02-E836-F4AD-264E-940F611EF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011CE-0D30-466F-831D-38BFA234EF44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173E07-4115-ECB1-3B95-A94866739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273BBF-A919-A985-3B12-78818E130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98C1C-1EC4-4948-BFA9-B49C86228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06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hyperlink" Target="https://www.leparisien.fr/guide-shopping/enfants/jouets/jeux-de-societe-3-valeurs-sures-a-petit-prix-pour-jouer-en-famille-ou-entre-amis-13-05-2026-2RYEKYEBEBAKVGES27ITDPN4WU.php" TargetMode="External"/><Relationship Id="rId3" Type="http://schemas.openxmlformats.org/officeDocument/2006/relationships/hyperlink" Target="https://pxhere.com/fr/photo/786440" TargetMode="External"/><Relationship Id="rId7" Type="http://schemas.openxmlformats.org/officeDocument/2006/relationships/hyperlink" Target="https://differences.topexemples.fr/difference-entre-numerique-et-digital/" TargetMode="External"/><Relationship Id="rId12" Type="http://schemas.openxmlformats.org/officeDocument/2006/relationships/image" Target="../media/image17.jpg"/><Relationship Id="rId17" Type="http://schemas.openxmlformats.org/officeDocument/2006/relationships/image" Target="../media/image21.jpeg"/><Relationship Id="rId2" Type="http://schemas.openxmlformats.org/officeDocument/2006/relationships/image" Target="../media/image12.jpg"/><Relationship Id="rId16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11" Type="http://schemas.openxmlformats.org/officeDocument/2006/relationships/hyperlink" Target="https://www.laminutegourmandeparis.com/post/livraison-courses-domicile-intermarche" TargetMode="External"/><Relationship Id="rId5" Type="http://schemas.openxmlformats.org/officeDocument/2006/relationships/hyperlink" Target="https://www.bijouxbaume.com/collier-perles-de-culture-et-perles-dopales-facette/" TargetMode="External"/><Relationship Id="rId15" Type="http://schemas.openxmlformats.org/officeDocument/2006/relationships/image" Target="../media/image19.jpeg"/><Relationship Id="rId10" Type="http://schemas.openxmlformats.org/officeDocument/2006/relationships/image" Target="../media/image16.jpg"/><Relationship Id="rId4" Type="http://schemas.openxmlformats.org/officeDocument/2006/relationships/image" Target="../media/image13.jpg"/><Relationship Id="rId9" Type="http://schemas.openxmlformats.org/officeDocument/2006/relationships/hyperlink" Target="https://www.flickr.com/photos/68716695@N06/29609195382" TargetMode="External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hyperlink" Target="https://auximedico.be/locations/" TargetMode="External"/><Relationship Id="rId7" Type="http://schemas.openxmlformats.org/officeDocument/2006/relationships/hyperlink" Target="https://pxhere.com/en/photo/1520447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g"/><Relationship Id="rId5" Type="http://schemas.openxmlformats.org/officeDocument/2006/relationships/hyperlink" Target="https://www.papercraft-3d.com/blog/10-idees-de-loisirs-creatifs-pour-debutants/" TargetMode="External"/><Relationship Id="rId4" Type="http://schemas.openxmlformats.org/officeDocument/2006/relationships/image" Target="../media/image23.jpg"/><Relationship Id="rId9" Type="http://schemas.openxmlformats.org/officeDocument/2006/relationships/hyperlink" Target="https://www.pinterest.fr/pin/515802963568120640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1806922-C1ED-8F94-2359-00705F30F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117" y="393130"/>
            <a:ext cx="4891488" cy="6071739"/>
          </a:xfrm>
          <a:prstGeom prst="rect">
            <a:avLst/>
          </a:prstGeom>
          <a:blipFill>
            <a:blip r:embed="rId3">
              <a:alphaModFix amt="28000"/>
            </a:blip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2807653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DB43-01AF-ADE9-6FEB-A19C927E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FB07C14-0CA8-8362-CC1F-3186908E7893}"/>
              </a:ext>
            </a:extLst>
          </p:cNvPr>
          <p:cNvSpPr txBox="1"/>
          <p:nvPr/>
        </p:nvSpPr>
        <p:spPr>
          <a:xfrm>
            <a:off x="1253169" y="1905506"/>
            <a:ext cx="101043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Monotype Corsiva" panose="03010101010201010101" pitchFamily="66" charset="0"/>
              </a:rPr>
              <a:t>Le sourire de </a:t>
            </a:r>
            <a:r>
              <a:rPr lang="fr-FR" sz="3200" dirty="0" err="1">
                <a:solidFill>
                  <a:schemeClr val="tx2">
                    <a:lumMod val="75000"/>
                  </a:schemeClr>
                </a:solidFill>
                <a:latin typeface="Monotype Corsiva" panose="03010101010201010101" pitchFamily="66" charset="0"/>
              </a:rPr>
              <a:t>JoJo</a:t>
            </a:r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Monotype Corsiva" panose="03010101010201010101" pitchFamily="66" charset="0"/>
              </a:rPr>
              <a:t> a vu le jour pour illuminer le quotidien à domicile.</a:t>
            </a:r>
          </a:p>
          <a:p>
            <a:pPr algn="ctr"/>
            <a:endParaRPr lang="fr-FR" sz="3200" dirty="0">
              <a:solidFill>
                <a:schemeClr val="tx2">
                  <a:lumMod val="75000"/>
                </a:schemeClr>
              </a:solidFill>
              <a:latin typeface="Monotype Corsiva" panose="03010101010201010101" pitchFamily="66" charset="0"/>
            </a:endParaRPr>
          </a:p>
          <a:p>
            <a:pPr algn="ctr"/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Monotype Corsiva" panose="03010101010201010101" pitchFamily="66" charset="0"/>
              </a:rPr>
              <a:t>Parce que le lien social est essentiel, mon accompagnement intervient pour rompre la solitude. </a:t>
            </a:r>
          </a:p>
          <a:p>
            <a:pPr algn="ctr"/>
            <a:endParaRPr lang="fr-FR" sz="3200" dirty="0">
              <a:solidFill>
                <a:schemeClr val="tx2">
                  <a:lumMod val="75000"/>
                </a:schemeClr>
              </a:solidFill>
              <a:latin typeface="Monotype Corsiva" panose="03010101010201010101" pitchFamily="66" charset="0"/>
            </a:endParaRPr>
          </a:p>
          <a:p>
            <a:pPr algn="ctr"/>
            <a:r>
              <a:rPr lang="fr-FR" sz="3200" dirty="0">
                <a:solidFill>
                  <a:schemeClr val="tx2">
                    <a:lumMod val="75000"/>
                  </a:schemeClr>
                </a:solidFill>
                <a:latin typeface="Monotype Corsiva" panose="03010101010201010101" pitchFamily="66" charset="0"/>
              </a:rPr>
              <a:t>Privilégier la rencontre, partager un sourire. </a:t>
            </a:r>
          </a:p>
        </p:txBody>
      </p:sp>
    </p:spTree>
    <p:extLst>
      <p:ext uri="{BB962C8B-B14F-4D97-AF65-F5344CB8AC3E}">
        <p14:creationId xmlns:p14="http://schemas.microsoft.com/office/powerpoint/2010/main" val="423759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EEF54-49BC-027D-0336-10449630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6836DA0-17D4-D9A4-E755-7B402C72E932}"/>
              </a:ext>
            </a:extLst>
          </p:cNvPr>
          <p:cNvSpPr txBox="1"/>
          <p:nvPr/>
        </p:nvSpPr>
        <p:spPr>
          <a:xfrm>
            <a:off x="1728729" y="244451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Mon histoire, Mon projet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11886E-2135-39A9-3F4E-9D4E21EFE166}"/>
              </a:ext>
            </a:extLst>
          </p:cNvPr>
          <p:cNvSpPr txBox="1"/>
          <p:nvPr/>
        </p:nvSpPr>
        <p:spPr>
          <a:xfrm>
            <a:off x="284602" y="1102578"/>
            <a:ext cx="11622795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Monotype Corsiva" panose="03010101010201010101" pitchFamily="66" charset="0"/>
              </a:rPr>
              <a:t>Ce projet est né d’une épreuve personnelle. Lorsque ma maman est tombée malade, je l’ai accompagnée autant que je le pouvais à ses séances de chimiothérapie. En passant ces heures à ses côtés, mois après mois, j’ai réalisé l’importance vitale d’une présence et d’un sourire pour traverser ces moments difficiles.</a:t>
            </a:r>
          </a:p>
          <a:p>
            <a:pPr algn="ctr"/>
            <a:endParaRPr lang="fr-FR" sz="2800" dirty="0">
              <a:latin typeface="Monotype Corsiva" panose="03010101010201010101" pitchFamily="66" charset="0"/>
            </a:endParaRPr>
          </a:p>
          <a:p>
            <a:pPr algn="ctr"/>
            <a:r>
              <a:rPr lang="fr-FR" sz="2800" dirty="0">
                <a:latin typeface="Monotype Corsiva" panose="03010101010201010101" pitchFamily="66" charset="0"/>
              </a:rPr>
              <a:t>Maman c’était « mamie Jo », Jojo pour mon papa.</a:t>
            </a:r>
          </a:p>
          <a:p>
            <a:pPr algn="ctr"/>
            <a:endParaRPr lang="fr-FR" sz="2800" dirty="0">
              <a:latin typeface="Monotype Corsiva" panose="03010101010201010101" pitchFamily="66" charset="0"/>
            </a:endParaRPr>
          </a:p>
          <a:p>
            <a:pPr algn="ctr"/>
            <a:r>
              <a:rPr lang="fr-FR" sz="2800" dirty="0">
                <a:latin typeface="Monotype Corsiva" panose="03010101010201010101" pitchFamily="66" charset="0"/>
              </a:rPr>
              <a:t>Elle était la joie incarnée, celle qui malgré les épreuves, gardait toujours cette étincelle de vie dans le regard.</a:t>
            </a:r>
          </a:p>
          <a:p>
            <a:pPr algn="ctr"/>
            <a:endParaRPr lang="fr-FR" sz="2800" dirty="0">
              <a:latin typeface="Monotype Corsiva" panose="03010101010201010101" pitchFamily="66" charset="0"/>
            </a:endParaRPr>
          </a:p>
          <a:p>
            <a:pPr algn="ctr"/>
            <a:r>
              <a:rPr lang="fr-FR" sz="2800" dirty="0">
                <a:latin typeface="Monotype Corsiva" panose="03010101010201010101" pitchFamily="66" charset="0"/>
              </a:rPr>
              <a:t>Le soir de son envol, un livre, que je n’avais jamais ouvert, est tombé de ma bibliothèque, comme un dernier signe. J’y ai découvert ces mots de Lanza Del </a:t>
            </a:r>
            <a:r>
              <a:rPr lang="fr-FR" sz="2800" dirty="0" err="1">
                <a:latin typeface="Monotype Corsiva" panose="03010101010201010101" pitchFamily="66" charset="0"/>
              </a:rPr>
              <a:t>Vasto</a:t>
            </a:r>
            <a:r>
              <a:rPr lang="fr-FR" sz="2800" dirty="0">
                <a:latin typeface="Monotype Corsiva" panose="03010101010201010101" pitchFamily="66" charset="0"/>
              </a:rPr>
              <a:t> :</a:t>
            </a:r>
          </a:p>
          <a:p>
            <a:pPr algn="ctr"/>
            <a:r>
              <a:rPr lang="fr-FR" sz="2800" dirty="0">
                <a:latin typeface="Monotype Corsiva" panose="03010101010201010101" pitchFamily="66" charset="0"/>
              </a:rPr>
              <a:t>« Dans la maladie ou la santé… Tiens – toi droit et souris »</a:t>
            </a:r>
          </a:p>
          <a:p>
            <a:pPr algn="ctr"/>
            <a:endParaRPr lang="fr-FR" sz="2800" dirty="0">
              <a:latin typeface="Monotype Corsiva" panose="03010101010201010101" pitchFamily="66" charset="0"/>
            </a:endParaRPr>
          </a:p>
          <a:p>
            <a:pPr algn="ctr"/>
            <a:r>
              <a:rPr lang="fr-FR" sz="2800" dirty="0">
                <a:latin typeface="Monotype Corsiva" panose="03010101010201010101" pitchFamily="66" charset="0"/>
              </a:rPr>
              <a:t>Ce fût une révélation. J’ai compris que ma mission était là : porter cet héritage de bienveillance et de dignité auprès de ceux  qui, aujourd’hui, vivent l’isolement ou l’immobilisation.</a:t>
            </a:r>
          </a:p>
          <a:p>
            <a:pPr algn="ctr"/>
            <a:endParaRPr lang="fr-FR" sz="32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74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33DF-6596-EB7D-D79B-D82E7848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BA92017-A676-20F8-8B45-67B34F54248F}"/>
              </a:ext>
            </a:extLst>
          </p:cNvPr>
          <p:cNvSpPr txBox="1"/>
          <p:nvPr/>
        </p:nvSpPr>
        <p:spPr>
          <a:xfrm>
            <a:off x="1728729" y="244451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Pourquoi ce projet 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721FD1-B325-F756-2BA3-48E3FC21C704}"/>
              </a:ext>
            </a:extLst>
          </p:cNvPr>
          <p:cNvSpPr txBox="1"/>
          <p:nvPr/>
        </p:nvSpPr>
        <p:spPr>
          <a:xfrm>
            <a:off x="462709" y="1257423"/>
            <a:ext cx="1162279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Monotype Corsiva" panose="03010101010201010101" pitchFamily="66" charset="0"/>
              </a:rPr>
              <a:t>Après une carrière de cadre, j’ai choisi de revenir à l’essentiel : L’humain !</a:t>
            </a:r>
          </a:p>
          <a:p>
            <a:pPr algn="ctr"/>
            <a:endParaRPr lang="fr-FR" sz="2800" dirty="0">
              <a:latin typeface="Monotype Corsiva" panose="03010101010201010101" pitchFamily="66" charset="0"/>
            </a:endParaRPr>
          </a:p>
          <a:p>
            <a:pPr algn="ctr"/>
            <a:r>
              <a:rPr lang="fr-FR" sz="2800" dirty="0">
                <a:latin typeface="Monotype Corsiva" panose="03010101010201010101" pitchFamily="66" charset="0"/>
              </a:rPr>
              <a:t>Le sourire de </a:t>
            </a:r>
            <a:r>
              <a:rPr lang="fr-FR" sz="2800" dirty="0" err="1">
                <a:latin typeface="Monotype Corsiva" panose="03010101010201010101" pitchFamily="66" charset="0"/>
              </a:rPr>
              <a:t>JoJo</a:t>
            </a:r>
            <a:r>
              <a:rPr lang="fr-FR" sz="2800" dirty="0">
                <a:latin typeface="Monotype Corsiva" panose="03010101010201010101" pitchFamily="66" charset="0"/>
              </a:rPr>
              <a:t>, </a:t>
            </a:r>
            <a:r>
              <a:rPr lang="fr-FR" sz="2800" b="1" dirty="0">
                <a:latin typeface="Monotype Corsiva" panose="03010101010201010101" pitchFamily="66" charset="0"/>
              </a:rPr>
              <a:t>c’est ma promesse.</a:t>
            </a:r>
          </a:p>
          <a:p>
            <a:pPr algn="ctr"/>
            <a:endParaRPr lang="fr-FR" sz="2800" b="1" dirty="0">
              <a:latin typeface="Monotype Corsiva" panose="03010101010201010101" pitchFamily="66" charset="0"/>
            </a:endParaRPr>
          </a:p>
          <a:p>
            <a:pPr algn="ctr"/>
            <a:r>
              <a:rPr lang="fr-FR" sz="3200" dirty="0">
                <a:latin typeface="Monotype Corsiva" panose="03010101010201010101" pitchFamily="66" charset="0"/>
              </a:rPr>
              <a:t> </a:t>
            </a:r>
            <a:r>
              <a:rPr lang="fr-FR" sz="2800" dirty="0">
                <a:latin typeface="Monotype Corsiva" panose="03010101010201010101" pitchFamily="66" charset="0"/>
              </a:rPr>
              <a:t>D’apporter, que se soit aux aînés, aux adultes en convalescences ou aux enfants momentanément empêchés, bien plus qu’une simple présence.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1189E2D-707A-3BF4-4BE1-BF2BCBB8E256}"/>
              </a:ext>
            </a:extLst>
          </p:cNvPr>
          <p:cNvSpPr txBox="1"/>
          <p:nvPr/>
        </p:nvSpPr>
        <p:spPr>
          <a:xfrm>
            <a:off x="1509311" y="4452390"/>
            <a:ext cx="245676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7150" cmpd="dbl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Monotype Corsiva" panose="03010101010201010101" pitchFamily="66" charset="0"/>
              </a:rPr>
              <a:t>Un regard attentif qui reconnait leur valeur et leur histoire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1E48E08-A7CA-8A2C-53C8-F640F28E60B0}"/>
              </a:ext>
            </a:extLst>
          </p:cNvPr>
          <p:cNvSpPr txBox="1"/>
          <p:nvPr/>
        </p:nvSpPr>
        <p:spPr>
          <a:xfrm>
            <a:off x="4469406" y="4452390"/>
            <a:ext cx="303193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7150" cmpd="dbl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Monotype Corsiva" panose="03010101010201010101" pitchFamily="66" charset="0"/>
              </a:rPr>
              <a:t>Une écoute complice pour partager des lectures, des souvenirs ou de simples silences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56C68FE-B565-6AB7-D360-0AA0E4C9E9AA}"/>
              </a:ext>
            </a:extLst>
          </p:cNvPr>
          <p:cNvSpPr txBox="1"/>
          <p:nvPr/>
        </p:nvSpPr>
        <p:spPr>
          <a:xfrm>
            <a:off x="8004673" y="4452390"/>
            <a:ext cx="312144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57150" cmpd="dbl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Monotype Corsiva" panose="03010101010201010101" pitchFamily="66" charset="0"/>
              </a:rPr>
              <a:t>Une joie de vivre pour transformer chaque « boiteries » du quotidien en  une forme de danse</a:t>
            </a:r>
          </a:p>
        </p:txBody>
      </p:sp>
    </p:spTree>
    <p:extLst>
      <p:ext uri="{BB962C8B-B14F-4D97-AF65-F5344CB8AC3E}">
        <p14:creationId xmlns:p14="http://schemas.microsoft.com/office/powerpoint/2010/main" val="44231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1A84-1990-6F8B-3F4F-E5EB910D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0B637AF-8CCC-48DB-6D39-288490FBA484}"/>
              </a:ext>
            </a:extLst>
          </p:cNvPr>
          <p:cNvSpPr txBox="1"/>
          <p:nvPr/>
        </p:nvSpPr>
        <p:spPr>
          <a:xfrm>
            <a:off x="1328135" y="200908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Un sourire pour tous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B34479-7864-7E24-BC41-0993B0050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43" y="1791871"/>
            <a:ext cx="337185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D217CEC-7B4B-9BE7-E94A-2F18B1C8D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865" y="1992985"/>
            <a:ext cx="736283" cy="82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A020A44-9E8A-3DFC-6355-B16446C13ADF}"/>
              </a:ext>
            </a:extLst>
          </p:cNvPr>
          <p:cNvSpPr txBox="1"/>
          <p:nvPr/>
        </p:nvSpPr>
        <p:spPr>
          <a:xfrm>
            <a:off x="703978" y="3015996"/>
            <a:ext cx="26003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i="0" u="none" strike="noStrike" dirty="0">
                <a:solidFill>
                  <a:srgbClr val="1A2B48"/>
                </a:solidFill>
                <a:effectLst/>
                <a:latin typeface="Playfair Display" panose="020F0502020204030204" pitchFamily="2" charset="0"/>
              </a:rPr>
              <a:t>Nos Aînés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Maintenir le lien social et l'autonomie par la joie de vivre.</a:t>
            </a:r>
            <a:endParaRPr lang="fr-FR" b="0" dirty="0">
              <a:effectLst/>
            </a:endParaRPr>
          </a:p>
          <a:p>
            <a:pPr algn="ctr"/>
            <a:br>
              <a:rPr lang="fr-FR" dirty="0"/>
            </a:br>
            <a:endParaRPr lang="fr-FR" b="0" dirty="0">
              <a:effectLst/>
            </a:endParaRPr>
          </a:p>
          <a:p>
            <a:pPr algn="ctr">
              <a:buNone/>
            </a:pPr>
            <a:br>
              <a:rPr lang="fr-FR" dirty="0"/>
            </a:br>
            <a:endParaRPr lang="fr-FR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B6DCC12-419B-22D7-7FC3-72935D833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4" y="1819275"/>
            <a:ext cx="337185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2B97DD3-7C62-FFF5-58EB-1C2290BB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837" y="2114162"/>
            <a:ext cx="872325" cy="70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939F0DA-D040-4138-53A3-09F86FBE0363}"/>
              </a:ext>
            </a:extLst>
          </p:cNvPr>
          <p:cNvSpPr txBox="1"/>
          <p:nvPr/>
        </p:nvSpPr>
        <p:spPr>
          <a:xfrm>
            <a:off x="4768723" y="3036939"/>
            <a:ext cx="27165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1A2B48"/>
                </a:solidFill>
                <a:latin typeface="Playfair Display" panose="00000500000000000000" pitchFamily="2" charset="0"/>
              </a:rPr>
              <a:t>Convalescents</a:t>
            </a:r>
          </a:p>
          <a:p>
            <a:pPr algn="ctr"/>
            <a:endParaRPr lang="fr-FR" b="0" dirty="0">
              <a:effectLst/>
            </a:endParaRPr>
          </a:p>
          <a:p>
            <a:pPr algn="ctr"/>
            <a:r>
              <a:rPr lang="fr-FR" dirty="0"/>
              <a:t>Soutenir les adultes immobilisés suite à un accident de la vie.</a:t>
            </a:r>
            <a:endParaRPr lang="fr-FR" b="0" dirty="0">
              <a:effectLst/>
            </a:endParaRPr>
          </a:p>
          <a:p>
            <a:pPr algn="ctr"/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1050" name="Picture 26">
            <a:extLst>
              <a:ext uri="{FF2B5EF4-FFF2-40B4-BE49-F238E27FC236}">
                <a16:creationId xmlns:a16="http://schemas.microsoft.com/office/drawing/2014/main" id="{7080467A-BD42-22CB-A830-053228F62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005" y="1819275"/>
            <a:ext cx="337185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4">
            <a:extLst>
              <a:ext uri="{FF2B5EF4-FFF2-40B4-BE49-F238E27FC236}">
                <a16:creationId xmlns:a16="http://schemas.microsoft.com/office/drawing/2014/main" id="{F82486CC-DBF1-4E98-71CF-EE403D8BC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1048" y="2114162"/>
            <a:ext cx="561418" cy="72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2CCB9E5-838A-8750-7A24-A93E8195BCA8}"/>
              </a:ext>
            </a:extLst>
          </p:cNvPr>
          <p:cNvSpPr txBox="1"/>
          <p:nvPr/>
        </p:nvSpPr>
        <p:spPr>
          <a:xfrm>
            <a:off x="8833468" y="3007400"/>
            <a:ext cx="27165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sz="1800" b="1" i="0" u="none" strike="noStrike" dirty="0">
                <a:solidFill>
                  <a:srgbClr val="1A2B48"/>
                </a:solidFill>
                <a:effectLst/>
                <a:latin typeface="Playfair Display" panose="00000500000000000000" pitchFamily="2" charset="0"/>
              </a:rPr>
              <a:t>Enfants</a:t>
            </a:r>
          </a:p>
          <a:p>
            <a:pPr algn="ctr" rtl="0">
              <a:buNone/>
            </a:pPr>
            <a:endParaRPr lang="fr-FR" b="1" dirty="0">
              <a:solidFill>
                <a:srgbClr val="1A2B48"/>
              </a:solidFill>
              <a:latin typeface="Playfair Display" panose="00000500000000000000" pitchFamily="2" charset="0"/>
            </a:endParaRPr>
          </a:p>
          <a:p>
            <a:pPr algn="ctr"/>
            <a:r>
              <a:rPr lang="fr-FR" dirty="0"/>
              <a:t>Accompagner les plus jeunes momentanément empêchés.</a:t>
            </a:r>
            <a:endParaRPr lang="fr-FR" b="0" dirty="0">
              <a:effectLst/>
            </a:endParaRPr>
          </a:p>
          <a:p>
            <a:pPr>
              <a:buNone/>
            </a:pP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054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4D48C-BD4B-1548-CCBA-1B698B84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956D102-D66C-086F-4FB7-474B0725C15F}"/>
              </a:ext>
            </a:extLst>
          </p:cNvPr>
          <p:cNvSpPr txBox="1"/>
          <p:nvPr/>
        </p:nvSpPr>
        <p:spPr>
          <a:xfrm>
            <a:off x="1397306" y="409914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Le carnet des sourires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8013ED2-2286-F339-C79F-619CA942E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833" y="994689"/>
            <a:ext cx="4334905" cy="581013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631BAE5-747E-24C4-3AD6-24489B633A05}"/>
              </a:ext>
            </a:extLst>
          </p:cNvPr>
          <p:cNvSpPr txBox="1"/>
          <p:nvPr/>
        </p:nvSpPr>
        <p:spPr>
          <a:xfrm>
            <a:off x="635726" y="994690"/>
            <a:ext cx="559090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Monotype Corsiva" panose="03010101010201010101" pitchFamily="66" charset="0"/>
              </a:rPr>
              <a:t>Au cœur de la philosophie du Sourire de Jojo, l’accompagnement n’est jamais une simple prestation technique. Le Carnet de Sourires n'est pas un simple cahier de notes.</a:t>
            </a:r>
          </a:p>
          <a:p>
            <a:endParaRPr lang="fr-FR" sz="10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Sa mission est de rendre visible l'invisible.</a:t>
            </a:r>
          </a:p>
          <a:p>
            <a:endParaRPr lang="fr-FR" sz="1000" dirty="0"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Le Carnet de Sourires est un objet tactile, un compagnon de route qui capture la texture de nos rencontres. Contrairement aux dossiers administratifs, il accueille la vie dans ce qu'elle a de plus spontané :</a:t>
            </a:r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endParaRPr lang="fr-FR" sz="1000" b="0" dirty="0">
              <a:effectLst/>
              <a:latin typeface="Monotype Corsiva" panose="03010101010201010101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otype Corsiva" panose="03010101010201010101" pitchFamily="66" charset="0"/>
              </a:rPr>
              <a:t>Photos et souvenirs visuels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otype Corsiva" panose="03010101010201010101" pitchFamily="66" charset="0"/>
              </a:rPr>
              <a:t>Nature et cueillette : On peut y trouver un pétale pressé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otype Corsiva" panose="03010101010201010101" pitchFamily="66" charset="0"/>
              </a:rPr>
              <a:t>Citations et récits : La trace écrite d'une lecture à voix haute ou les fragments d'une histoire de vie racontée avec émotion.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otype Corsiva" panose="03010101010201010101" pitchFamily="66" charset="0"/>
              </a:rPr>
              <a:t>Tracer des victoires : Qu'il s'agisse d'un nouveau chemin accessible parcouru en fauteuil ou d'un jeu de société terminé avec entrain.</a:t>
            </a:r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endParaRPr lang="fr-FR" sz="10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Pour bien situer sa place, voici comment il se distingue des outils de soin classiques : Approche Humaine, chaleureuse et relationnelle et non Clinique, protocolaire et factuelle, on fait le</a:t>
            </a:r>
          </a:p>
          <a:p>
            <a:r>
              <a:rPr lang="fr-FR" sz="1600" dirty="0">
                <a:latin typeface="Monotype Corsiva" panose="03010101010201010101" pitchFamily="66" charset="0"/>
              </a:rPr>
              <a:t>focus sur les Victoires, les Joies et les Rayons de soleil, non sur les symptômes, les soins et les constantes.</a:t>
            </a:r>
            <a:br>
              <a:rPr lang="fr-FR" sz="1600" dirty="0">
                <a:latin typeface="Monotype Corsiva" panose="03010101010201010101" pitchFamily="66" charset="0"/>
              </a:rPr>
            </a:br>
            <a:endParaRPr lang="fr-FR" sz="1600" dirty="0"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Cette richesse permet d'assurer une continuité du lien qui respecte avant tout l'identité de la personne</a:t>
            </a:r>
            <a:endParaRPr lang="fr-FR" sz="1600" b="0" dirty="0">
              <a:effectLst/>
              <a:latin typeface="Monotype Corsiva" panose="03010101010201010101" pitchFamily="66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7B5E66-87E8-13C5-79A5-70F85D086733}"/>
              </a:ext>
            </a:extLst>
          </p:cNvPr>
          <p:cNvSpPr txBox="1"/>
          <p:nvPr/>
        </p:nvSpPr>
        <p:spPr>
          <a:xfrm>
            <a:off x="7768047" y="1341120"/>
            <a:ext cx="3953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otype Corsiva" panose="03010101010201010101" pitchFamily="66" charset="0"/>
              </a:rPr>
              <a:t>Créer un Pont entre les Instants et les Gens</a:t>
            </a:r>
            <a:endParaRPr lang="fr-FR" b="1" dirty="0">
              <a:effectLst/>
              <a:latin typeface="Monotype Corsiva" panose="03010101010201010101" pitchFamily="66" charset="0"/>
            </a:endParaRPr>
          </a:p>
          <a:p>
            <a:br>
              <a:rPr lang="fr-FR" b="1" dirty="0">
                <a:effectLst/>
                <a:latin typeface="Monotype Corsiva" panose="03010101010201010101" pitchFamily="66" charset="0"/>
              </a:rPr>
            </a:br>
            <a:endParaRPr lang="fr-FR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246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7278-EEED-7F1F-B6D1-3DF3DF3D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A825765-3EDB-25D9-ED16-4A98DD8CC9E4}"/>
              </a:ext>
            </a:extLst>
          </p:cNvPr>
          <p:cNvSpPr txBox="1"/>
          <p:nvPr/>
        </p:nvSpPr>
        <p:spPr>
          <a:xfrm>
            <a:off x="1397306" y="409914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Le carnet des sourires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B372F2-9236-F23F-1B37-D8FF2464CEFC}"/>
              </a:ext>
            </a:extLst>
          </p:cNvPr>
          <p:cNvSpPr txBox="1"/>
          <p:nvPr/>
        </p:nvSpPr>
        <p:spPr>
          <a:xfrm>
            <a:off x="635726" y="730597"/>
            <a:ext cx="559090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Monotype Corsiva" panose="03010101010201010101" pitchFamily="66" charset="0"/>
              </a:rPr>
              <a:t>La Triple Mission du Carnet</a:t>
            </a:r>
            <a:br>
              <a:rPr lang="fr-FR" sz="1600" b="0" dirty="0">
                <a:effectLst/>
                <a:latin typeface="Monotype Corsiva" panose="03010101010201010101" pitchFamily="66" charset="0"/>
              </a:rPr>
            </a:br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1. Relier les séances et respecter le rythme</a:t>
            </a:r>
            <a:br>
              <a:rPr lang="fr-FR" sz="1600" b="0" dirty="0">
                <a:effectLst/>
                <a:latin typeface="Monotype Corsiva" panose="03010101010201010101" pitchFamily="66" charset="0"/>
              </a:rPr>
            </a:br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Le carnet évite de repartir de zéro. Il garde en mémoire les préférences, mais aussi les limites du jour précédent. Si une séance a été consacrée à une « sieste conversationnelle » ou si la personne a exprimé un « non » ferme face à une activité, cela est consigné avec respect. On ne force jamais ; on s’adapte à l’énergie du moment pour que la présence reste un plaisir.</a:t>
            </a:r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2. Valoriser les progrès et les petites victoires</a:t>
            </a:r>
          </a:p>
          <a:p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b="0" dirty="0">
                <a:effectLst/>
                <a:latin typeface="Monotype Corsiva" panose="03010101010201010101" pitchFamily="66" charset="0"/>
              </a:rPr>
              <a:t>Les </a:t>
            </a:r>
            <a:r>
              <a:rPr lang="fr-FR" sz="1600" dirty="0">
                <a:latin typeface="Monotype Corsiva" panose="03010101010201010101" pitchFamily="66" charset="0"/>
              </a:rPr>
              <a:t>victoires sont parfois subtiles. Le carnet les rend éclatantes : un chapitre de livre lu ensemble, un trajet réussi vers le marché de Montauban, ou un éclat de rire retrouvé. En mettant l'accent sur le « faire encore », il restaure l’estime de soi.</a:t>
            </a:r>
            <a:br>
              <a:rPr lang="fr-FR" sz="1600" b="0" dirty="0">
                <a:effectLst/>
                <a:latin typeface="Monotype Corsiva" panose="03010101010201010101" pitchFamily="66" charset="0"/>
              </a:rPr>
            </a:br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3. Informer et rassurer les intervenants</a:t>
            </a:r>
            <a:br>
              <a:rPr lang="fr-FR" sz="1600" b="0" dirty="0">
                <a:effectLst/>
                <a:latin typeface="Monotype Corsiva" panose="03010101010201010101" pitchFamily="66" charset="0"/>
              </a:rPr>
            </a:br>
            <a:endParaRPr lang="fr-FR" sz="1600" b="0" dirty="0">
              <a:effectLst/>
              <a:latin typeface="Monotype Corsiva" panose="03010101010201010101" pitchFamily="66" charset="0"/>
            </a:endParaRPr>
          </a:p>
          <a:p>
            <a:r>
              <a:rPr lang="fr-FR" sz="1600" dirty="0">
                <a:latin typeface="Monotype Corsiva" panose="03010101010201010101" pitchFamily="66" charset="0"/>
              </a:rPr>
              <a:t>Le carnet est un pont. Il permet aux autres aidants ou professionnels de comprendre en un clin d’œil l’état d’esprit de la personne et ce qui a illuminé sa journée, favorisant une harmonie totale autour de l'accompagné.</a:t>
            </a:r>
          </a:p>
          <a:p>
            <a:endParaRPr lang="fr-FR" sz="1600" b="0" dirty="0">
              <a:effectLst/>
            </a:endParaRPr>
          </a:p>
          <a:p>
            <a:pPr algn="ctr"/>
            <a:r>
              <a:rPr lang="fr-FR" sz="1600" dirty="0"/>
              <a:t>Ce carnet sera numérisé et mis en ligne sur un intranet avec accès aux familles</a:t>
            </a:r>
            <a:br>
              <a:rPr lang="fr-FR" sz="1600" b="0" dirty="0">
                <a:effectLst/>
              </a:rPr>
            </a:br>
            <a:endParaRPr lang="fr-FR" sz="1600" b="0" dirty="0">
              <a:effectLst/>
              <a:latin typeface="Monotype Corsiva" panose="03010101010201010101" pitchFamily="66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767D6B9-69D6-3290-0028-329957464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627" y="1097280"/>
            <a:ext cx="4296537" cy="576072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574A0E7-4E8E-1636-2A60-494557552C40}"/>
              </a:ext>
            </a:extLst>
          </p:cNvPr>
          <p:cNvSpPr txBox="1"/>
          <p:nvPr/>
        </p:nvSpPr>
        <p:spPr>
          <a:xfrm>
            <a:off x="8325395" y="6209212"/>
            <a:ext cx="39536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otype Corsiva" panose="03010101010201010101" pitchFamily="66" charset="0"/>
              </a:rPr>
              <a:t>Plus qu'un Objet, un Rayon de Soleil</a:t>
            </a:r>
            <a:endParaRPr lang="fr-FR" sz="1600" b="1" dirty="0">
              <a:effectLst/>
              <a:latin typeface="Monotype Corsiva" panose="03010101010201010101" pitchFamily="66" charset="0"/>
            </a:endParaRPr>
          </a:p>
          <a:p>
            <a:br>
              <a:rPr lang="fr-FR" sz="1600" b="1" dirty="0">
                <a:effectLst/>
                <a:latin typeface="Monotype Corsiva" panose="03010101010201010101" pitchFamily="66" charset="0"/>
              </a:rPr>
            </a:br>
            <a:endParaRPr lang="fr-FR" sz="1600" b="1" dirty="0">
              <a:effectLst/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70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EC90-FE4A-196C-97DE-33B6587C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7EA6334-E97E-5512-FC8D-77EC72A813C7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Loisirs et confort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8EA953-68FA-71E2-BBB6-10E7CD919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1374" y="1351503"/>
            <a:ext cx="2434071" cy="153346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615DDB2-0B61-FF4E-A73D-0799BFAE7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873555" y="1351503"/>
            <a:ext cx="1600200" cy="16002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5ABEE0B-403A-BF6C-22DF-7B0AC118AB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44936" y="4612229"/>
            <a:ext cx="2410509" cy="142309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061EC78-3CF5-D74C-F7D0-C9C90F5368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012551" y="4587847"/>
            <a:ext cx="2164321" cy="144358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6FABE85F-5740-A23C-E19F-BBAA61D7C1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9383303" y="4411139"/>
            <a:ext cx="2430439" cy="162029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F34B981E-B499-765B-92FB-A694E5BFB2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9383303" y="1351502"/>
            <a:ext cx="2562519" cy="1600199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E5785938-29C3-A7FC-94C8-90EC38A141CC}"/>
              </a:ext>
            </a:extLst>
          </p:cNvPr>
          <p:cNvSpPr txBox="1"/>
          <p:nvPr/>
        </p:nvSpPr>
        <p:spPr>
          <a:xfrm>
            <a:off x="-128451" y="3291664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La biographie de vie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5466F38-EA78-7162-DDBA-0C8FF6604676}"/>
              </a:ext>
            </a:extLst>
          </p:cNvPr>
          <p:cNvSpPr txBox="1"/>
          <p:nvPr/>
        </p:nvSpPr>
        <p:spPr>
          <a:xfrm>
            <a:off x="2383148" y="3322263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Atelier créatif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FE1F685-5CB9-3873-6448-4AD2F2C981DB}"/>
              </a:ext>
            </a:extLst>
          </p:cNvPr>
          <p:cNvSpPr txBox="1"/>
          <p:nvPr/>
        </p:nvSpPr>
        <p:spPr>
          <a:xfrm>
            <a:off x="6802290" y="3306190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Escapade sensorielle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C69343B-B6D8-5F13-51C0-5421FE657C42}"/>
              </a:ext>
            </a:extLst>
          </p:cNvPr>
          <p:cNvSpPr txBox="1"/>
          <p:nvPr/>
        </p:nvSpPr>
        <p:spPr>
          <a:xfrm>
            <a:off x="9435021" y="3275591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Jeux de sociétés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5684597-592B-54CD-F95D-E99C7E5F55A5}"/>
              </a:ext>
            </a:extLst>
          </p:cNvPr>
          <p:cNvSpPr txBox="1"/>
          <p:nvPr/>
        </p:nvSpPr>
        <p:spPr>
          <a:xfrm>
            <a:off x="9232729" y="6161195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Promenades et courses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702EA6A-9B0B-5123-E7CA-124C7CF14128}"/>
              </a:ext>
            </a:extLst>
          </p:cNvPr>
          <p:cNvSpPr txBox="1"/>
          <p:nvPr/>
        </p:nvSpPr>
        <p:spPr>
          <a:xfrm>
            <a:off x="6711131" y="6161195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Lecture et album photo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CCE84ED-2CD1-21B8-98AC-65EBF2BBEC11}"/>
              </a:ext>
            </a:extLst>
          </p:cNvPr>
          <p:cNvSpPr txBox="1"/>
          <p:nvPr/>
        </p:nvSpPr>
        <p:spPr>
          <a:xfrm>
            <a:off x="2396679" y="6224999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La visite duo avec Lili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B2CD87F-AA4D-3DD4-E158-18C217F25A57}"/>
              </a:ext>
            </a:extLst>
          </p:cNvPr>
          <p:cNvSpPr txBox="1"/>
          <p:nvPr/>
        </p:nvSpPr>
        <p:spPr>
          <a:xfrm>
            <a:off x="-25568" y="6236759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Le pont numérique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B3F400-50DA-233A-488C-27F5E07B1E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55" y="4209357"/>
            <a:ext cx="1825965" cy="182596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8DE1473-8FD5-DF6C-3F1E-3157795C1A8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242" y="1336858"/>
            <a:ext cx="1323223" cy="169327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2E6155D-4C54-37B9-4245-D1143F4FE6CF}"/>
              </a:ext>
            </a:extLst>
          </p:cNvPr>
          <p:cNvSpPr txBox="1"/>
          <p:nvPr/>
        </p:nvSpPr>
        <p:spPr>
          <a:xfrm>
            <a:off x="4499688" y="3283507"/>
            <a:ext cx="2581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Petit moment plaisir et détente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ECFD51B-9D1C-BE22-3043-D5331EFA02D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450" y="4276288"/>
            <a:ext cx="1260626" cy="184536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59FE6BF-1F79-3EDA-7345-C8CD01989E76}"/>
              </a:ext>
            </a:extLst>
          </p:cNvPr>
          <p:cNvSpPr txBox="1"/>
          <p:nvPr/>
        </p:nvSpPr>
        <p:spPr>
          <a:xfrm>
            <a:off x="4553905" y="6203894"/>
            <a:ext cx="258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otype Corsiva" panose="03010101010201010101" pitchFamily="66" charset="0"/>
              </a:rPr>
              <a:t>On se raconte nos vies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63FAF6A-78D6-CF0C-AAEE-098A802C3D3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290" y="1374185"/>
            <a:ext cx="2236919" cy="167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8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B3CC1-EB96-6F6D-B0D9-41217F97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9F319B5-1086-963C-9C1D-264AEA9CC775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Loisirs et confort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EA0593C-090B-8E01-48F0-F5CA899FA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0134" y="1182188"/>
            <a:ext cx="2562498" cy="25624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D55F38E-D485-32AB-9B71-1AB58003B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287291" y="1567543"/>
            <a:ext cx="3148150" cy="209876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E04EF00-44AB-FE5E-9485-277F15F892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421339" y="1600793"/>
            <a:ext cx="3042422" cy="203226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9B11F07-F4D2-E374-F580-CA741AB233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10134" y="4463340"/>
            <a:ext cx="2972126" cy="1981417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C5C9028-A482-F529-DCE2-C5F8612A8DB1}"/>
              </a:ext>
            </a:extLst>
          </p:cNvPr>
          <p:cNvSpPr txBox="1"/>
          <p:nvPr/>
        </p:nvSpPr>
        <p:spPr>
          <a:xfrm>
            <a:off x="3789351" y="4610538"/>
            <a:ext cx="83679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Monotype Corsiva" panose="03010101010201010101" pitchFamily="66" charset="0"/>
              </a:rPr>
              <a:t>« Un service clé en main : je me déplace avec mon propre matériel </a:t>
            </a:r>
          </a:p>
          <a:p>
            <a:r>
              <a:rPr lang="fr-FR" sz="2800" b="1" dirty="0">
                <a:latin typeface="Monotype Corsiva" panose="03010101010201010101" pitchFamily="66" charset="0"/>
              </a:rPr>
              <a:t>de soutien à la marche et mes ateliers ludiques »</a:t>
            </a:r>
          </a:p>
        </p:txBody>
      </p:sp>
    </p:spTree>
    <p:extLst>
      <p:ext uri="{BB962C8B-B14F-4D97-AF65-F5344CB8AC3E}">
        <p14:creationId xmlns:p14="http://schemas.microsoft.com/office/powerpoint/2010/main" val="786146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026A-8A9C-35D7-50D1-0C558FC4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79893F7-393E-2F49-B418-04379047A038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Zone Géographique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C945DD-4F32-99ED-4DC3-0BF842946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802" y="1116936"/>
            <a:ext cx="4764395" cy="522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26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EFC73-B220-CAE7-D536-1FE176815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6795A11-90F9-D724-7CC3-3975D8DD216E}"/>
              </a:ext>
            </a:extLst>
          </p:cNvPr>
          <p:cNvSpPr txBox="1"/>
          <p:nvPr/>
        </p:nvSpPr>
        <p:spPr>
          <a:xfrm>
            <a:off x="1397306" y="0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Qu’est ce qui me différencie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07A118-D397-F005-C7EF-CBB928919169}"/>
              </a:ext>
            </a:extLst>
          </p:cNvPr>
          <p:cNvSpPr txBox="1"/>
          <p:nvPr/>
        </p:nvSpPr>
        <p:spPr>
          <a:xfrm>
            <a:off x="1730828" y="6027003"/>
            <a:ext cx="8730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Monotype Corsiva" panose="03010101010201010101" pitchFamily="66" charset="0"/>
              </a:rPr>
              <a:t>ÊTRE UNE « DAME DE COMPAGNIE MODERNE », </a:t>
            </a:r>
          </a:p>
          <a:p>
            <a:pPr algn="ctr"/>
            <a:r>
              <a:rPr lang="fr-FR" sz="1600" dirty="0">
                <a:latin typeface="Monotype Corsiva" panose="03010101010201010101" pitchFamily="66" charset="0"/>
              </a:rPr>
              <a:t>C’est lever tous les freins logistiques pour les familles.</a:t>
            </a:r>
          </a:p>
          <a:p>
            <a:pPr algn="ctr"/>
            <a:r>
              <a:rPr lang="fr-FR" sz="1600" dirty="0">
                <a:latin typeface="Monotype Corsiva" panose="03010101010201010101" pitchFamily="66" charset="0"/>
              </a:rPr>
              <a:t>Je transforme votre domicile en un espace de vie dynamique sans aucune contrainte pour vous.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7A126B2-B22C-0B7C-EA7C-163A6A928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65135"/>
              </p:ext>
            </p:extLst>
          </p:nvPr>
        </p:nvGraphicFramePr>
        <p:xfrm>
          <a:off x="89051" y="584775"/>
          <a:ext cx="11928778" cy="5273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964389">
                  <a:extLst>
                    <a:ext uri="{9D8B030D-6E8A-4147-A177-3AD203B41FA5}">
                      <a16:colId xmlns:a16="http://schemas.microsoft.com/office/drawing/2014/main" val="2243958167"/>
                    </a:ext>
                  </a:extLst>
                </a:gridCol>
                <a:gridCol w="5964389">
                  <a:extLst>
                    <a:ext uri="{9D8B030D-6E8A-4147-A177-3AD203B41FA5}">
                      <a16:colId xmlns:a16="http://schemas.microsoft.com/office/drawing/2014/main" val="2111902269"/>
                    </a:ext>
                  </a:extLst>
                </a:gridCol>
              </a:tblGrid>
              <a:tr h="46960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Ce que vous connaissez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/>
                        <a:t>Ce que je propose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413007"/>
                  </a:ext>
                </a:extLst>
              </a:tr>
              <a:tr h="4660618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Simple présence, surveillance, télévision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fr-FR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Dépendance au matériel présent dans le foyer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fr-FR" dirty="0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Pas ou peu de transmission structurée à la famille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Forfait de prestations avec un minimum d’heures obligatoires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Grosse structure qui envoie leur salarié disponible sur le moment, pas de lien personnalisé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Posture active :  Stimulation cognitive, jeux, perles et sorties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Autonomie technique : je viens avec mon matériel (Fauteuil, déambulateur)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Carnet de Sourires: Une traçabilité vivante et rassurante des moments partagés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fr-FR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b="1" dirty="0"/>
                        <a:t>La flexibilité :</a:t>
                      </a:r>
                      <a:r>
                        <a:rPr lang="fr-FR" dirty="0"/>
                        <a:t> Une famille qui veut juste une présence de 1h30 pour rompre la solitude d'une personne seule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fr-FR" b="1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b="1" dirty="0"/>
                        <a:t>Le côté local et personnalisé :</a:t>
                      </a:r>
                      <a:r>
                        <a:rPr lang="fr-FR" dirty="0"/>
                        <a:t> </a:t>
                      </a:r>
                      <a:r>
                        <a:rPr lang="fr-FR" b="1" dirty="0"/>
                        <a:t>présence fixe</a:t>
                      </a:r>
                      <a:r>
                        <a:rPr lang="fr-FR" dirty="0"/>
                        <a:t>, mon sourire, mes ateliers créatifs sur-mesure et mon "Carnet de Sourires". Les familles achètent une relation de confiance avec </a:t>
                      </a:r>
                      <a:r>
                        <a:rPr lang="fr-FR" i="1" dirty="0"/>
                        <a:t>Céline</a:t>
                      </a:r>
                      <a:r>
                        <a:rPr lang="fr-FR" dirty="0"/>
                        <a:t>, pas avec une administration.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39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877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181AF-0581-C3A5-7B95-C4CC057C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F4543C2-0DCE-D24A-2D1D-6DD6FE1BFDE2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Offres et forfaits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8F5EAB2-CDEB-9758-C9D2-548D0CB39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27162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46C8CC1-9CF8-4784-EBE3-A95C2E618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629503"/>
              </p:ext>
            </p:extLst>
          </p:nvPr>
        </p:nvGraphicFramePr>
        <p:xfrm>
          <a:off x="1119721" y="1071221"/>
          <a:ext cx="9952557" cy="5394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0899">
                  <a:extLst>
                    <a:ext uri="{9D8B030D-6E8A-4147-A177-3AD203B41FA5}">
                      <a16:colId xmlns:a16="http://schemas.microsoft.com/office/drawing/2014/main" val="2630191593"/>
                    </a:ext>
                  </a:extLst>
                </a:gridCol>
                <a:gridCol w="1020775">
                  <a:extLst>
                    <a:ext uri="{9D8B030D-6E8A-4147-A177-3AD203B41FA5}">
                      <a16:colId xmlns:a16="http://schemas.microsoft.com/office/drawing/2014/main" val="2532867587"/>
                    </a:ext>
                  </a:extLst>
                </a:gridCol>
                <a:gridCol w="3266481">
                  <a:extLst>
                    <a:ext uri="{9D8B030D-6E8A-4147-A177-3AD203B41FA5}">
                      <a16:colId xmlns:a16="http://schemas.microsoft.com/office/drawing/2014/main" val="3944736904"/>
                    </a:ext>
                  </a:extLst>
                </a:gridCol>
                <a:gridCol w="1582201">
                  <a:extLst>
                    <a:ext uri="{9D8B030D-6E8A-4147-A177-3AD203B41FA5}">
                      <a16:colId xmlns:a16="http://schemas.microsoft.com/office/drawing/2014/main" val="4266536966"/>
                    </a:ext>
                  </a:extLst>
                </a:gridCol>
                <a:gridCol w="1582201">
                  <a:extLst>
                    <a:ext uri="{9D8B030D-6E8A-4147-A177-3AD203B41FA5}">
                      <a16:colId xmlns:a16="http://schemas.microsoft.com/office/drawing/2014/main" val="3681606562"/>
                    </a:ext>
                  </a:extLst>
                </a:gridCol>
              </a:tblGrid>
              <a:tr h="283490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TARIFS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1521719167"/>
                  </a:ext>
                </a:extLst>
              </a:tr>
              <a:tr h="5669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Tarif horaire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Coût famille après dégrèvement des 50% de crédit d'impôt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19,00 €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3605440773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565644928"/>
                  </a:ext>
                </a:extLst>
              </a:tr>
              <a:tr h="28349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LES FORFAITS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27043"/>
                  </a:ext>
                </a:extLst>
              </a:tr>
              <a:tr h="5669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Thèmes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Nombre d'heure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Coût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Coût après déduction impôt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CA après retrait des charges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4036293326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Le pont numérique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19 €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13 €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1479017617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La biographie de vie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74 €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25 €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2551463468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Atelier créatif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74 €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25 €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2006551889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Escapade sensorielle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74 €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25 €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3443548844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Jeux de société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74 €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25 €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1146958241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La visite duo avec Lili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74 €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25 €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3657384289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Moment de détente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74 €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25 €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2631441367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On se raconte nos vies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108 €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54 €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36 €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2338439537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Lecture et Album photo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108 €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54 €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36 €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2060469884"/>
                  </a:ext>
                </a:extLst>
              </a:tr>
              <a:tr h="283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Promenade et courses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108 €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54 €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36 €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extLst>
                  <a:ext uri="{0D108BD9-81ED-4DB2-BD59-A6C34878D82A}">
                    <a16:rowId xmlns:a16="http://schemas.microsoft.com/office/drawing/2014/main" val="3567376935"/>
                  </a:ext>
                </a:extLst>
              </a:tr>
              <a:tr h="575570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Toutes les activités peuvent être faites à l'heure</a:t>
                      </a:r>
                      <a:br>
                        <a:rPr lang="fr-FR" sz="1100" u="none" strike="noStrike" dirty="0">
                          <a:effectLst/>
                        </a:rPr>
                      </a:br>
                      <a:r>
                        <a:rPr lang="fr-FR" sz="1100" u="none" strike="noStrike" dirty="0">
                          <a:effectLst/>
                        </a:rPr>
                        <a:t>En dehors de la zone d'intervention, les prix sont susceptibles d'évoluer (sur devis)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114300" marR="0" marT="0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870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274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39F68-D97C-7335-6C50-04D68CD2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2561B06-A3C9-6B17-325C-AE2DD768D321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Cadre légal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D5256B3-0F0F-DF1E-B125-922E7D36FE05}"/>
              </a:ext>
            </a:extLst>
          </p:cNvPr>
          <p:cNvGraphicFramePr>
            <a:graphicFrameLocks noGrp="1"/>
          </p:cNvGraphicFramePr>
          <p:nvPr/>
        </p:nvGraphicFramePr>
        <p:xfrm>
          <a:off x="1556657" y="1684225"/>
          <a:ext cx="8639629" cy="2978375"/>
        </p:xfrm>
        <a:graphic>
          <a:graphicData uri="http://schemas.openxmlformats.org/drawingml/2006/table">
            <a:tbl>
              <a:tblPr/>
              <a:tblGrid>
                <a:gridCol w="1743354">
                  <a:extLst>
                    <a:ext uri="{9D8B030D-6E8A-4147-A177-3AD203B41FA5}">
                      <a16:colId xmlns:a16="http://schemas.microsoft.com/office/drawing/2014/main" val="1739542558"/>
                    </a:ext>
                  </a:extLst>
                </a:gridCol>
                <a:gridCol w="4597517">
                  <a:extLst>
                    <a:ext uri="{9D8B030D-6E8A-4147-A177-3AD203B41FA5}">
                      <a16:colId xmlns:a16="http://schemas.microsoft.com/office/drawing/2014/main" val="3510214129"/>
                    </a:ext>
                  </a:extLst>
                </a:gridCol>
                <a:gridCol w="2298758">
                  <a:extLst>
                    <a:ext uri="{9D8B030D-6E8A-4147-A177-3AD203B41FA5}">
                      <a16:colId xmlns:a16="http://schemas.microsoft.com/office/drawing/2014/main" val="1189963924"/>
                    </a:ext>
                  </a:extLst>
                </a:gridCol>
              </a:tblGrid>
              <a:tr h="59567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1" i="0" u="none" strike="noStrike">
                          <a:solidFill>
                            <a:srgbClr val="374151"/>
                          </a:solidFill>
                          <a:effectLst/>
                          <a:latin typeface="Playfair Display" panose="00000500000000000000" pitchFamily="2" charset="0"/>
                        </a:rPr>
                        <a:t>Domaine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1" i="0" u="none" strike="noStrike">
                          <a:solidFill>
                            <a:srgbClr val="374151"/>
                          </a:solidFill>
                          <a:effectLst/>
                          <a:latin typeface="Playfair Display" panose="00000500000000000000" pitchFamily="2" charset="0"/>
                        </a:rPr>
                        <a:t>Engagement "Le Sourire de Jojo"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1" i="0" u="none" strike="noStrike">
                          <a:solidFill>
                            <a:srgbClr val="374151"/>
                          </a:solidFill>
                          <a:effectLst/>
                          <a:latin typeface="Playfair Display" panose="00000500000000000000" pitchFamily="2" charset="0"/>
                        </a:rPr>
                        <a:t>Référence Légale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02619"/>
                  </a:ext>
                </a:extLst>
              </a:tr>
              <a:tr h="59567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1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Champ d'action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Strictement non-médical (Loisirs &amp; Social).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Art. L. 4311-1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700299"/>
                  </a:ext>
                </a:extLst>
              </a:tr>
              <a:tr h="59567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1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Responsabilité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 dirty="0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Obligation de moyens &amp; Vigilance accrue.</a:t>
                      </a:r>
                      <a:endParaRPr lang="fr-FR" dirty="0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Art. 1240 Code Civil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876855"/>
                  </a:ext>
                </a:extLst>
              </a:tr>
              <a:tr h="59567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1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Urgence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Appel prioritaire aux secours (15, 18, 112).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Art. 223-6 Code Pénal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1309"/>
                  </a:ext>
                </a:extLst>
              </a:tr>
              <a:tr h="59567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1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Capacité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Vérification de la capacité juridique des signataires.</a:t>
                      </a:r>
                      <a:endParaRPr lang="fr-FR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500" b="0" i="0" u="none" strike="noStrike" dirty="0">
                          <a:solidFill>
                            <a:srgbClr val="374151"/>
                          </a:solidFill>
                          <a:effectLst/>
                          <a:latin typeface="Lato" panose="020F0502020204030203" pitchFamily="34" charset="0"/>
                        </a:rPr>
                        <a:t>Art. 1145 Code Civil</a:t>
                      </a:r>
                      <a:endParaRPr lang="fr-FR" dirty="0"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6400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85E5F5AD-4B90-F096-9723-6264C0D92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27162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40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B746-CDDC-FBF8-ACAE-20B44257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FE69EFC-2AFB-5B00-FBDF-4A59FC2A3B1F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Sécurité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1EFEF9F-7825-07F7-28B8-6DFA9C86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27162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54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A50A3-CA97-FB2F-98A6-7309D957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997B20E-AEF8-9AD2-C41C-BEDD46E3D46F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Mes formations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F348E29-8537-64FB-EEF3-B8AA28CF9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27162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310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1562-4AF7-C3A3-CDE7-6382F543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693B35D-9374-5CAD-D1C8-7EFA0A581E45}"/>
              </a:ext>
            </a:extLst>
          </p:cNvPr>
          <p:cNvSpPr txBox="1"/>
          <p:nvPr/>
        </p:nvSpPr>
        <p:spPr>
          <a:xfrm>
            <a:off x="1267175" y="235742"/>
            <a:ext cx="9397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Les aides possibles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050A7A4-80DF-1326-0340-E4341FB0F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49" y="1970324"/>
            <a:ext cx="1198655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Crédit d'Impôt de 50 %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L'APA (Allocation Personnalisée d'Autonomie)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Versée par le Conseil Départemental du Tarn-et-Garonne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les personnes de plus de 60 ans. Le bénéficiaire peut tout à fait utiliser son enveloppe APA pour payer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prestations de Dame de Compagnie.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PCH (Prestation de Compensation du Handicap)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C'est l'équivalent de l'APA, mais géré par la MDPH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les personnes en situation de handicap (sans limite d'âge). Ils peuvent payer avec cette aide.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Caisses de Retraite (Agirc-Arrco, CARSAT, MSA...)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Elles accordent des budgets annuels ou des "chèques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CESU" à leurs retraités pour financer de la compagnie à domicile ou de l'aide aux sorties. </a:t>
            </a:r>
          </a:p>
        </p:txBody>
      </p:sp>
    </p:spTree>
    <p:extLst>
      <p:ext uri="{BB962C8B-B14F-4D97-AF65-F5344CB8AC3E}">
        <p14:creationId xmlns:p14="http://schemas.microsoft.com/office/powerpoint/2010/main" val="228261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B3AFA-1E8B-F85B-4A0F-CDB5A88C3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137AC08-33FA-097A-DEE2-17E7BB617BF6}"/>
              </a:ext>
            </a:extLst>
          </p:cNvPr>
          <p:cNvSpPr txBox="1"/>
          <p:nvPr/>
        </p:nvSpPr>
        <p:spPr>
          <a:xfrm>
            <a:off x="1267175" y="235742"/>
            <a:ext cx="9397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Ma 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2D2C3C8-1471-ACBD-3F19-0655C4DF8406}"/>
              </a:ext>
            </a:extLst>
          </p:cNvPr>
          <p:cNvSpPr txBox="1"/>
          <p:nvPr/>
        </p:nvSpPr>
        <p:spPr>
          <a:xfrm>
            <a:off x="763595" y="1354374"/>
            <a:ext cx="1094081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Monotype Corsiva" panose="03010101010201010101" pitchFamily="66" charset="0"/>
              </a:rPr>
              <a:t>Au-delà d’une aide logistique, Le Sourire de </a:t>
            </a:r>
            <a:r>
              <a:rPr lang="fr-FR" sz="3600" b="1" dirty="0" err="1">
                <a:latin typeface="Monotype Corsiva" panose="03010101010201010101" pitchFamily="66" charset="0"/>
              </a:rPr>
              <a:t>JoJo</a:t>
            </a:r>
            <a:r>
              <a:rPr lang="fr-FR" sz="3600" b="1" dirty="0">
                <a:latin typeface="Monotype Corsiva" panose="03010101010201010101" pitchFamily="66" charset="0"/>
              </a:rPr>
              <a:t> est une promesse </a:t>
            </a:r>
          </a:p>
          <a:p>
            <a:r>
              <a:rPr lang="fr-FR" sz="3600" b="1" dirty="0">
                <a:latin typeface="Monotype Corsiva" panose="03010101010201010101" pitchFamily="66" charset="0"/>
              </a:rPr>
              <a:t>de présence authentique et de dignité partagée.</a:t>
            </a:r>
          </a:p>
          <a:p>
            <a:endParaRPr lang="fr-FR" sz="3600" b="1" dirty="0">
              <a:latin typeface="Monotype Corsiva" panose="03010101010201010101" pitchFamily="66" charset="0"/>
            </a:endParaRPr>
          </a:p>
          <a:p>
            <a:r>
              <a:rPr lang="fr-FR" sz="3600" b="1" dirty="0">
                <a:latin typeface="Monotype Corsiva" panose="03010101010201010101" pitchFamily="66" charset="0"/>
              </a:rPr>
              <a:t>En alliant une écoute attentive, des activités stimulantes et un </a:t>
            </a:r>
          </a:p>
          <a:p>
            <a:r>
              <a:rPr lang="fr-FR" sz="3600" b="1" dirty="0">
                <a:latin typeface="Monotype Corsiva" panose="03010101010201010101" pitchFamily="66" charset="0"/>
              </a:rPr>
              <a:t>matériel adapté, mon objectif est de transformer chaque visite en </a:t>
            </a:r>
          </a:p>
          <a:p>
            <a:r>
              <a:rPr lang="fr-FR" sz="3600" b="1" dirty="0">
                <a:latin typeface="Monotype Corsiva" panose="03010101010201010101" pitchFamily="66" charset="0"/>
              </a:rPr>
              <a:t>parenthèse de joie et de sérénité.</a:t>
            </a:r>
          </a:p>
          <a:p>
            <a:endParaRPr lang="fr-FR" sz="3600" b="1" dirty="0">
              <a:latin typeface="Monotype Corsiva" panose="03010101010201010101" pitchFamily="66" charset="0"/>
            </a:endParaRPr>
          </a:p>
          <a:p>
            <a:r>
              <a:rPr lang="fr-FR" sz="3600" b="1" dirty="0">
                <a:latin typeface="Monotype Corsiva" panose="03010101010201010101" pitchFamily="66" charset="0"/>
              </a:rPr>
              <a:t>C’est ensemble, avec BIENVEILLANCE et dynamisme, </a:t>
            </a:r>
          </a:p>
          <a:p>
            <a:r>
              <a:rPr lang="fr-FR" sz="3600" b="1" dirty="0">
                <a:latin typeface="Monotype Corsiva" panose="03010101010201010101" pitchFamily="66" charset="0"/>
              </a:rPr>
              <a:t>que nous cultiverons ce lien social précieux.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E1B095-3705-C7A9-DE9A-AC0DEE76E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721" y="5034657"/>
            <a:ext cx="1337368" cy="1660057"/>
          </a:xfrm>
          <a:prstGeom prst="rect">
            <a:avLst/>
          </a:prstGeom>
          <a:blipFill>
            <a:blip r:embed="rId3">
              <a:alphaModFix amt="28000"/>
            </a:blip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421133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A172-DED6-AFB9-E807-D76C704F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16E5923-3279-9012-95CE-56880CDF14E1}"/>
              </a:ext>
            </a:extLst>
          </p:cNvPr>
          <p:cNvSpPr txBox="1"/>
          <p:nvPr/>
        </p:nvSpPr>
        <p:spPr>
          <a:xfrm>
            <a:off x="1267175" y="235742"/>
            <a:ext cx="9397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tx2"/>
                </a:solidFill>
                <a:latin typeface="Monotype Corsiva" panose="03010101010201010101" pitchFamily="66" charset="0"/>
              </a:rPr>
              <a:t>Restons en contact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BD29F3-6049-8BC4-6582-0053194F0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721" y="5034657"/>
            <a:ext cx="1337368" cy="1660057"/>
          </a:xfrm>
          <a:prstGeom prst="rect">
            <a:avLst/>
          </a:prstGeom>
          <a:blipFill>
            <a:blip r:embed="rId3">
              <a:alphaModFix amt="28000"/>
            </a:blip>
            <a:tile tx="0" ty="0" sx="100000" sy="100000" flip="none" algn="tl"/>
          </a:blipFill>
        </p:spPr>
      </p:pic>
      <p:pic>
        <p:nvPicPr>
          <p:cNvPr id="11" name="Graphique 10" descr="Enveloppe avec un remplissage uni">
            <a:extLst>
              <a:ext uri="{FF2B5EF4-FFF2-40B4-BE49-F238E27FC236}">
                <a16:creationId xmlns:a16="http://schemas.microsoft.com/office/drawing/2014/main" id="{4D427900-F917-96C2-238F-468114EAB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7427" y="1756045"/>
            <a:ext cx="914400" cy="914400"/>
          </a:xfrm>
          <a:prstGeom prst="rect">
            <a:avLst/>
          </a:prstGeom>
        </p:spPr>
      </p:pic>
      <p:pic>
        <p:nvPicPr>
          <p:cNvPr id="13" name="Graphique 12" descr="Combiné avec un remplissage uni">
            <a:extLst>
              <a:ext uri="{FF2B5EF4-FFF2-40B4-BE49-F238E27FC236}">
                <a16:creationId xmlns:a16="http://schemas.microsoft.com/office/drawing/2014/main" id="{D2465667-ED27-5956-80E2-F808FC8D65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5142" y="1756045"/>
            <a:ext cx="914400" cy="914400"/>
          </a:xfrm>
          <a:prstGeom prst="rect">
            <a:avLst/>
          </a:prstGeom>
        </p:spPr>
      </p:pic>
      <p:pic>
        <p:nvPicPr>
          <p:cNvPr id="15" name="Graphique 14" descr="Internet avec un remplissage uni">
            <a:extLst>
              <a:ext uri="{FF2B5EF4-FFF2-40B4-BE49-F238E27FC236}">
                <a16:creationId xmlns:a16="http://schemas.microsoft.com/office/drawing/2014/main" id="{D91D951C-0C19-459E-F65E-370315D0A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6028" y="1756045"/>
            <a:ext cx="914400" cy="91440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CBF7C7B-DBD9-4238-F45A-4ED73ED734C2}"/>
              </a:ext>
            </a:extLst>
          </p:cNvPr>
          <p:cNvSpPr txBox="1"/>
          <p:nvPr/>
        </p:nvSpPr>
        <p:spPr>
          <a:xfrm>
            <a:off x="244927" y="2967335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Email</a:t>
            </a:r>
          </a:p>
          <a:p>
            <a:endParaRPr lang="fr-FR" dirty="0"/>
          </a:p>
          <a:p>
            <a:r>
              <a:rPr lang="fr-FR" dirty="0"/>
              <a:t>contact@.....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44C3E5E-313E-04C8-7CFF-4206B315A8AB}"/>
              </a:ext>
            </a:extLst>
          </p:cNvPr>
          <p:cNvSpPr txBox="1"/>
          <p:nvPr/>
        </p:nvSpPr>
        <p:spPr>
          <a:xfrm>
            <a:off x="4348842" y="2967335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Téléphone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06 66 30 96 22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73DF13E-E587-CE9B-FCBF-A6C5771DC5C3}"/>
              </a:ext>
            </a:extLst>
          </p:cNvPr>
          <p:cNvSpPr txBox="1"/>
          <p:nvPr/>
        </p:nvSpPr>
        <p:spPr>
          <a:xfrm>
            <a:off x="7399563" y="3006413"/>
            <a:ext cx="4207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Site Web 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https://le-sourire-de-jojo.vercel.app/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98FFAFA-8933-CB94-8D7E-0A1DB1F48E37}"/>
              </a:ext>
            </a:extLst>
          </p:cNvPr>
          <p:cNvSpPr txBox="1"/>
          <p:nvPr/>
        </p:nvSpPr>
        <p:spPr>
          <a:xfrm>
            <a:off x="2362200" y="6252926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Basée à Corbarieu et ses environs</a:t>
            </a:r>
          </a:p>
        </p:txBody>
      </p:sp>
    </p:spTree>
    <p:extLst>
      <p:ext uri="{BB962C8B-B14F-4D97-AF65-F5344CB8AC3E}">
        <p14:creationId xmlns:p14="http://schemas.microsoft.com/office/powerpoint/2010/main" val="25319430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TM02900771[[fn=Secteur]]</Template>
  <TotalTime>480</TotalTime>
  <Words>1526</Words>
  <Application>Microsoft Office PowerPoint</Application>
  <PresentationFormat>Grand écran</PresentationFormat>
  <Paragraphs>229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Gill Sans MT</vt:lpstr>
      <vt:lpstr>Lato</vt:lpstr>
      <vt:lpstr>Monotype Corsiva</vt:lpstr>
      <vt:lpstr>Playfair Display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marianne meunier</dc:creator>
  <cp:lastModifiedBy>marianne meunier</cp:lastModifiedBy>
  <cp:revision>4</cp:revision>
  <dcterms:created xsi:type="dcterms:W3CDTF">2026-05-15T08:52:10Z</dcterms:created>
  <dcterms:modified xsi:type="dcterms:W3CDTF">2026-05-29T14:59:14Z</dcterms:modified>
</cp:coreProperties>
</file>